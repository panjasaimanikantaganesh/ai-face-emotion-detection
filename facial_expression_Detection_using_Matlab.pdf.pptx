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86" r:id="rId1"/>
  </p:sldMasterIdLst>
  <p:sldIdLst>
    <p:sldId id="256" r:id="rId2"/>
    <p:sldId id="257" r:id="rId3"/>
    <p:sldId id="269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7" r:id="rId12"/>
    <p:sldId id="268" r:id="rId13"/>
    <p:sldId id="265" r:id="rId14"/>
    <p:sldId id="266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4" d="100"/>
          <a:sy n="84" d="100"/>
        </p:scale>
        <p:origin x="629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ANJA SAI MANIKANTA GANESH" userId="e219ad125344ab7b" providerId="LiveId" clId="{96FE7154-43A1-48CC-8202-D08D204E64B4}"/>
    <pc:docChg chg="modSld">
      <pc:chgData name="PANJA SAI MANIKANTA GANESH" userId="e219ad125344ab7b" providerId="LiveId" clId="{96FE7154-43A1-48CC-8202-D08D204E64B4}" dt="2026-02-08T09:07:33.760" v="1" actId="20577"/>
      <pc:docMkLst>
        <pc:docMk/>
      </pc:docMkLst>
      <pc:sldChg chg="modSp mod">
        <pc:chgData name="PANJA SAI MANIKANTA GANESH" userId="e219ad125344ab7b" providerId="LiveId" clId="{96FE7154-43A1-48CC-8202-D08D204E64B4}" dt="2026-02-08T09:07:33.760" v="1" actId="20577"/>
        <pc:sldMkLst>
          <pc:docMk/>
          <pc:sldMk cId="2674266120" sldId="260"/>
        </pc:sldMkLst>
        <pc:spChg chg="mod">
          <ac:chgData name="PANJA SAI MANIKANTA GANESH" userId="e219ad125344ab7b" providerId="LiveId" clId="{96FE7154-43A1-48CC-8202-D08D204E64B4}" dt="2026-02-08T09:07:33.760" v="1" actId="20577"/>
          <ac:spMkLst>
            <pc:docMk/>
            <pc:sldMk cId="2674266120" sldId="260"/>
            <ac:spMk id="3" creationId="{43D342F9-1706-FEF9-5037-938F3AB23A3E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Title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962399" y="1964267"/>
            <a:ext cx="7197726" cy="2421464"/>
          </a:xfrm>
        </p:spPr>
        <p:txBody>
          <a:bodyPr anchor="b">
            <a:normAutofit/>
          </a:bodyPr>
          <a:lstStyle>
            <a:lvl1pPr algn="r">
              <a:defRPr sz="48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962399" y="4385732"/>
            <a:ext cx="7197726" cy="1405467"/>
          </a:xfrm>
        </p:spPr>
        <p:txBody>
          <a:bodyPr anchor="t">
            <a:normAutofit/>
          </a:bodyPr>
          <a:lstStyle>
            <a:lvl1pPr marL="0" indent="0" algn="r">
              <a:buNone/>
              <a:defRPr sz="1800" cap="all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32558" y="5870575"/>
            <a:ext cx="1600200" cy="377825"/>
          </a:xfrm>
        </p:spPr>
        <p:txBody>
          <a:bodyPr/>
          <a:lstStyle/>
          <a:p>
            <a:fld id="{E676509E-2EDA-4E87-B09C-4B3F2F3E33A5}" type="datetimeFigureOut">
              <a:rPr lang="en-IN" smtClean="0"/>
              <a:t>08-02-2026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962399" y="5870575"/>
            <a:ext cx="4893958" cy="377825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08958" y="5870575"/>
            <a:ext cx="551167" cy="377825"/>
          </a:xfrm>
        </p:spPr>
        <p:txBody>
          <a:bodyPr/>
          <a:lstStyle/>
          <a:p>
            <a:fld id="{79E24364-09BD-4F35-9B62-1ADBAFF34CA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3499911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6509E-2EDA-4E87-B09C-4B3F2F3E33A5}" type="datetimeFigureOut">
              <a:rPr lang="en-IN" smtClean="0"/>
              <a:t>08-02-2026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E24364-09BD-4F35-9B62-1ADBAFF34CA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642503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308581"/>
            <a:ext cx="10131427" cy="1468800"/>
          </a:xfrm>
        </p:spPr>
        <p:txBody>
          <a:bodyPr anchor="b"/>
          <a:lstStyle>
            <a:lvl1pPr algn="l">
              <a:defRPr sz="40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7381"/>
            <a:ext cx="1013142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 cap="all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6509E-2EDA-4E87-B09C-4B3F2F3E33A5}" type="datetimeFigureOut">
              <a:rPr lang="en-IN" smtClean="0"/>
              <a:t>08-02-2026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E24364-09BD-4F35-9B62-1ADBAFF34CA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890658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2" y="2142067"/>
            <a:ext cx="4995334" cy="364913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21895" y="2142067"/>
            <a:ext cx="4995332" cy="364913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6509E-2EDA-4E87-B09C-4B3F2F3E33A5}" type="datetimeFigureOut">
              <a:rPr lang="en-IN" smtClean="0"/>
              <a:t>08-02-2026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E24364-09BD-4F35-9B62-1ADBAFF34CA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136431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3670" y="2218267"/>
            <a:ext cx="470905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1" y="2870201"/>
            <a:ext cx="4996923" cy="292099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96003" y="2226734"/>
            <a:ext cx="4722813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23483" y="2870201"/>
            <a:ext cx="4995334" cy="292099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6509E-2EDA-4E87-B09C-4B3F2F3E33A5}" type="datetimeFigureOut">
              <a:rPr lang="en-IN" smtClean="0"/>
              <a:t>08-02-2026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E24364-09BD-4F35-9B62-1ADBAFF34CA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793773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6509E-2EDA-4E87-B09C-4B3F2F3E33A5}" type="datetimeFigureOut">
              <a:rPr lang="en-IN" smtClean="0"/>
              <a:t>08-02-2026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E24364-09BD-4F35-9B62-1ADBAFF34CA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517133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6509E-2EDA-4E87-B09C-4B3F2F3E33A5}" type="datetimeFigureOut">
              <a:rPr lang="en-IN" smtClean="0"/>
              <a:t>08-02-2026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E24364-09BD-4F35-9B62-1ADBAFF34CA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388613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074333"/>
            <a:ext cx="3680885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48201" y="609601"/>
            <a:ext cx="6169026" cy="51816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445933"/>
            <a:ext cx="3680885" cy="1828800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6509E-2EDA-4E87-B09C-4B3F2F3E33A5}" type="datetimeFigureOut">
              <a:rPr lang="en-IN" smtClean="0"/>
              <a:t>08-02-2026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E24364-09BD-4F35-9B62-1ADBAFF34CA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944321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600200"/>
            <a:ext cx="6164653" cy="13716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36253" y="914400"/>
            <a:ext cx="3280974" cy="4572000"/>
          </a:xfrm>
          <a:prstGeom prst="roundRect">
            <a:avLst>
              <a:gd name="adj" fmla="val 42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2971800"/>
            <a:ext cx="6164653" cy="1828800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6509E-2EDA-4E87-B09C-4B3F2F3E33A5}" type="datetimeFigureOut">
              <a:rPr lang="en-IN" smtClean="0"/>
              <a:t>08-02-2026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E24364-09BD-4F35-9B62-1ADBAFF34CA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049280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732865"/>
            <a:ext cx="1013142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371600" y="932112"/>
            <a:ext cx="8759827" cy="3164976"/>
          </a:xfrm>
          <a:prstGeom prst="roundRect">
            <a:avLst>
              <a:gd name="adj" fmla="val 43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299603"/>
            <a:ext cx="10131427" cy="49371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6509E-2EDA-4E87-B09C-4B3F2F3E33A5}" type="datetimeFigureOut">
              <a:rPr lang="en-IN" smtClean="0"/>
              <a:t>08-02-2026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E24364-09BD-4F35-9B62-1ADBAFF34CA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393935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3124199"/>
          </a:xfrm>
        </p:spPr>
        <p:txBody>
          <a:bodyPr anchor="ctr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6509E-2EDA-4E87-B09C-4B3F2F3E33A5}" type="datetimeFigureOut">
              <a:rPr lang="en-IN" smtClean="0"/>
              <a:t>08-02-2026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E24364-09BD-4F35-9B62-1ADBAFF34CA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729428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097875" y="3352800"/>
            <a:ext cx="9339184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7465" y="4343400"/>
            <a:ext cx="10152367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6509E-2EDA-4E87-B09C-4B3F2F3E33A5}" type="datetimeFigureOut">
              <a:rPr lang="en-IN" smtClean="0"/>
              <a:t>08-02-2026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E24364-09BD-4F35-9B62-1ADBAFF34CA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5546017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2" y="3308581"/>
            <a:ext cx="10131425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4777381"/>
            <a:ext cx="10131426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6509E-2EDA-4E87-B09C-4B3F2F3E33A5}" type="datetimeFigureOut">
              <a:rPr lang="en-IN" smtClean="0"/>
              <a:t>08-02-2026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E24364-09BD-4F35-9B62-1ADBAFF34CA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6524701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0" y="3886200"/>
            <a:ext cx="10135436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5200"/>
            <a:ext cx="10135436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6509E-2EDA-4E87-B09C-4B3F2F3E33A5}" type="datetimeFigureOut">
              <a:rPr lang="en-IN" smtClean="0"/>
              <a:t>08-02-2026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E24364-09BD-4F35-9B62-1ADBAFF34CA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6682718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1" y="3505200"/>
            <a:ext cx="10131428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6509E-2EDA-4E87-B09C-4B3F2F3E33A5}" type="datetimeFigureOut">
              <a:rPr lang="en-IN" smtClean="0"/>
              <a:t>08-02-2026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E24364-09BD-4F35-9B62-1ADBAFF34CA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0598024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6509E-2EDA-4E87-B09C-4B3F2F3E33A5}" type="datetimeFigureOut">
              <a:rPr lang="en-IN" smtClean="0"/>
              <a:t>08-02-2026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E24364-09BD-4F35-9B62-1ADBAFF34CAE}" type="slidenum">
              <a:rPr lang="en-IN" smtClean="0"/>
              <a:t>‹#›</a:t>
            </a:fld>
            <a:endParaRPr lang="en-IN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1785655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8675" y="609599"/>
            <a:ext cx="2158552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7832116" cy="51816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6509E-2EDA-4E87-B09C-4B3F2F3E33A5}" type="datetimeFigureOut">
              <a:rPr lang="en-IN" smtClean="0"/>
              <a:t>08-02-2026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E24364-09BD-4F35-9B62-1ADBAFF34CA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436506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2142067"/>
            <a:ext cx="10131425" cy="36491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E676509E-2EDA-4E87-B09C-4B3F2F3E33A5}" type="datetimeFigureOut">
              <a:rPr lang="en-IN" smtClean="0"/>
              <a:t>08-02-2026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79E24364-09BD-4F35-9B62-1ADBAFF34CA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6631106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87" r:id="rId1"/>
    <p:sldLayoutId id="2147483788" r:id="rId2"/>
    <p:sldLayoutId id="2147483789" r:id="rId3"/>
    <p:sldLayoutId id="2147483790" r:id="rId4"/>
    <p:sldLayoutId id="2147483791" r:id="rId5"/>
    <p:sldLayoutId id="2147483792" r:id="rId6"/>
    <p:sldLayoutId id="2147483793" r:id="rId7"/>
    <p:sldLayoutId id="2147483794" r:id="rId8"/>
    <p:sldLayoutId id="2147483795" r:id="rId9"/>
    <p:sldLayoutId id="2147483796" r:id="rId10"/>
    <p:sldLayoutId id="2147483797" r:id="rId11"/>
    <p:sldLayoutId id="2147483798" r:id="rId12"/>
    <p:sldLayoutId id="2147483799" r:id="rId13"/>
    <p:sldLayoutId id="2147483800" r:id="rId14"/>
    <p:sldLayoutId id="2147483801" r:id="rId15"/>
    <p:sldLayoutId id="2147483802" r:id="rId16"/>
    <p:sldLayoutId id="2147483803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5418EE-22E7-84E6-FC81-3CF29DB19E6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83690" y="1343257"/>
            <a:ext cx="9624620" cy="2387600"/>
          </a:xfrm>
        </p:spPr>
        <p:txBody>
          <a:bodyPr>
            <a:normAutofit/>
          </a:bodyPr>
          <a:lstStyle/>
          <a:p>
            <a:pPr algn="ctr"/>
            <a:r>
              <a:rPr lang="en-US"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Facial expression detection using mat-lab</a:t>
            </a:r>
            <a:endParaRPr lang="en-IN" sz="3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248569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BF3DA3-3CFA-6478-0F5E-890EE6BF24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0286" y="390518"/>
            <a:ext cx="10131425" cy="1456267"/>
          </a:xfrm>
        </p:spPr>
        <p:txBody>
          <a:bodyPr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 Emotion Detection?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55DA1B-88A9-FC86-0F3A-5C1DCFAE11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9119" y="2438252"/>
            <a:ext cx="10353762" cy="3473073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motivation behind choosing this topic specifically lies in the huge  investments large corporations do in feedbacks and surveys but fail to get equitable response on their investments.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Emotion Detection through facial gestures is a technology that aims to improve product and services performance by monitoring customer behavior to certain products or service staff by their evaluation.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F481D75-2613-88E9-9D73-0D5C7B1AA8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23917" y="1846785"/>
            <a:ext cx="4944165" cy="13527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98644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91888C-B49E-8CBB-F413-3C74653511E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497137" y="1066801"/>
            <a:ext cx="7197726" cy="1405467"/>
          </a:xfrm>
        </p:spPr>
        <p:txBody>
          <a:bodyPr/>
          <a:lstStyle/>
          <a:p>
            <a:pPr algn="ctr"/>
            <a:r>
              <a:rPr lang="en-US" dirty="0"/>
              <a:t>SUBMITTED BY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27E58F3-F5FE-06AC-E9C0-33B5D9E4B58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497137" y="2930313"/>
            <a:ext cx="7197726" cy="2910839"/>
          </a:xfrm>
        </p:spPr>
        <p:txBody>
          <a:bodyPr>
            <a:normAutofit/>
          </a:bodyPr>
          <a:lstStyle/>
          <a:p>
            <a:pPr algn="ctr"/>
            <a:r>
              <a:rPr lang="en-US" sz="2400" dirty="0"/>
              <a:t>CH. VASHISTA   (2305A44003)</a:t>
            </a:r>
          </a:p>
          <a:p>
            <a:pPr algn="ctr"/>
            <a:r>
              <a:rPr lang="en-US" sz="2400" dirty="0"/>
              <a:t>U. SAI CHANDU (2305A44004)</a:t>
            </a:r>
          </a:p>
          <a:p>
            <a:pPr algn="ctr"/>
            <a:r>
              <a:rPr lang="en-US" sz="2400" dirty="0"/>
              <a:t>P. SAI MANIKANTA GANESH (2305A42013)</a:t>
            </a:r>
          </a:p>
          <a:p>
            <a:pPr algn="ctr"/>
            <a:r>
              <a:rPr lang="en-US" sz="2400" dirty="0"/>
              <a:t>K. PRAMODH KUMAR (2305A42016)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28695185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F5F3C5-693A-8761-226A-D5AC521A98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4444" y="991840"/>
            <a:ext cx="10353761" cy="1326321"/>
          </a:xfrm>
        </p:spPr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098DFD-4D38-D171-9A51-759527D7DD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5" y="2096064"/>
            <a:ext cx="9224992" cy="3340094"/>
          </a:xfrm>
        </p:spPr>
        <p:txBody>
          <a:bodyPr>
            <a:normAutofit/>
          </a:bodyPr>
          <a:lstStyle/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Facial expression detection enables machines to understand human emotions.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FER‑2013 dataset and MATLAB Deep Learning Toolbox.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CNN (VGG16‑based) model used for classification of emotions.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Supports both static images and real‑time webcam recognition.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723295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DA4093-B673-5774-D557-91C1E744CA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1" y="815746"/>
            <a:ext cx="10353761" cy="1326321"/>
          </a:xfrm>
        </p:spPr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4FC577-3E5A-809F-798A-45F09FABED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Develop automatic facial expression detection using deep learning.</a:t>
            </a:r>
          </a:p>
          <a:p>
            <a:r>
              <a:rPr lang="en-IN" dirty="0"/>
              <a:t>Train &amp; test model using FER‑2013 dataset.</a:t>
            </a:r>
          </a:p>
          <a:p>
            <a:r>
              <a:rPr lang="en-IN" dirty="0"/>
              <a:t>Implement VGG16‑based CNN in MATLAB.</a:t>
            </a:r>
          </a:p>
          <a:p>
            <a:r>
              <a:rPr lang="en-IN" dirty="0"/>
              <a:t>Design user‑friendly GUI for image selection &amp; emotion detection.</a:t>
            </a:r>
          </a:p>
          <a:p>
            <a:r>
              <a:rPr lang="en-IN" dirty="0"/>
              <a:t>Support real‑time emotion detection via webcam.</a:t>
            </a:r>
          </a:p>
          <a:p>
            <a:r>
              <a:rPr lang="en-IN" dirty="0"/>
              <a:t>Improve accuracy and system reliability.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957096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D8169B-D326-A5B9-3CC1-F37210B1AE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3360" y="629697"/>
            <a:ext cx="10353761" cy="1326321"/>
          </a:xfrm>
        </p:spPr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Daily Life Applications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D342F9-1706-FEF9-5037-938F3AB23A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9119" y="1653937"/>
            <a:ext cx="10353762" cy="3695136"/>
          </a:xfrm>
        </p:spPr>
        <p:txBody>
          <a:bodyPr/>
          <a:lstStyle/>
          <a:p>
            <a:pPr marL="0" indent="0">
              <a:buNone/>
            </a:pPr>
            <a:endParaRPr lang="en-IN" dirty="0"/>
          </a:p>
          <a:p>
            <a:r>
              <a:rPr lang="en-IN" dirty="0"/>
              <a:t>Human–Computer Interaction: Emotion‑aware systems.</a:t>
            </a:r>
          </a:p>
          <a:p>
            <a:r>
              <a:rPr lang="en-IN" dirty="0"/>
              <a:t>Education: Detect student engagement/confusion.</a:t>
            </a:r>
          </a:p>
          <a:p>
            <a:r>
              <a:rPr lang="en-IN" dirty="0"/>
              <a:t>Healthcare: Emotional state monitoring.</a:t>
            </a:r>
          </a:p>
          <a:p>
            <a:r>
              <a:rPr lang="en-IN" dirty="0"/>
              <a:t>Security: Detect suspicious or aggressive </a:t>
            </a:r>
            <a:r>
              <a:rPr lang="en-IN" dirty="0" err="1"/>
              <a:t>behavior</a:t>
            </a:r>
            <a:r>
              <a:rPr lang="en-IN" dirty="0"/>
              <a:t>.</a:t>
            </a:r>
          </a:p>
          <a:p>
            <a:r>
              <a:rPr lang="en-IN" dirty="0"/>
              <a:t>Customer Service: Analyse customer sentiment.</a:t>
            </a:r>
          </a:p>
          <a:p>
            <a:r>
              <a:rPr lang="en-IN" dirty="0"/>
              <a:t>Gaming/Entertainment: Adaptive emotional gameplay.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742661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856935-9387-45AD-6F5C-9E04621E06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FER‑2013 Dataset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3302D9-99DD-87C9-FAAB-82C6BA09D6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4" y="1764468"/>
            <a:ext cx="10353762" cy="3695136"/>
          </a:xfrm>
        </p:spPr>
        <p:txBody>
          <a:bodyPr/>
          <a:lstStyle/>
          <a:p>
            <a:pPr marL="0" indent="0">
              <a:buNone/>
            </a:pPr>
            <a:endParaRPr lang="en-US" dirty="0"/>
          </a:p>
          <a:p>
            <a:r>
              <a:rPr lang="en-US" dirty="0"/>
              <a:t>Source: Kaggle FER‑2013 dataset.</a:t>
            </a:r>
          </a:p>
          <a:p>
            <a:r>
              <a:rPr lang="en-US" dirty="0"/>
              <a:t>Contains 28,000+ grayscale facial images (48×48 pixels).</a:t>
            </a:r>
          </a:p>
          <a:p>
            <a:r>
              <a:rPr lang="en-US" dirty="0"/>
              <a:t>Seven emotion categories labeled.(</a:t>
            </a:r>
            <a:r>
              <a:rPr lang="en-IN" dirty="0"/>
              <a:t>Happy, Sad, Angry, Fear, Disgust, Surprise, Neutral.</a:t>
            </a:r>
            <a:r>
              <a:rPr lang="en-US" dirty="0"/>
              <a:t>)</a:t>
            </a:r>
          </a:p>
          <a:p>
            <a:r>
              <a:rPr lang="en-US" dirty="0"/>
              <a:t>Preprocessing: Resize to 224×224 and convert to RGB.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703751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2D9404-7A5C-C4FE-C1B9-E4D3555A8E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1066800"/>
            <a:ext cx="10131425" cy="1456267"/>
          </a:xfrm>
        </p:spPr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CNN &amp; VGG16 Architecture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4F550E-9098-A8EE-30D5-DE297F4E18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CNN extracts deep spatial features from images.</a:t>
            </a:r>
          </a:p>
          <a:p>
            <a:r>
              <a:rPr lang="en-IN" dirty="0"/>
              <a:t>CNN trained to detect 7 emotions: Happy, Sad, Angry, Fear, Disgust, Surprise, Neutral.</a:t>
            </a:r>
            <a:endParaRPr lang="en-US" dirty="0"/>
          </a:p>
          <a:p>
            <a:r>
              <a:rPr lang="en-US" dirty="0"/>
              <a:t>VGG16 used as backbone for transfer learning.</a:t>
            </a:r>
          </a:p>
          <a:p>
            <a:r>
              <a:rPr lang="en-US" dirty="0"/>
              <a:t>Last layers replaced to match 7‑class output.</a:t>
            </a:r>
          </a:p>
          <a:p>
            <a:r>
              <a:rPr lang="en-US" dirty="0"/>
              <a:t>Improves accuracy and training efficiency.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670357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C82A3E-09DC-F0A4-55B6-69DB7AADA8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1" y="865632"/>
            <a:ext cx="10131425" cy="1456267"/>
          </a:xfrm>
        </p:spPr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Workflow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E87510-48CE-3F82-1C2D-DFB6C5F476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1. Image Input</a:t>
            </a:r>
          </a:p>
          <a:p>
            <a:r>
              <a:rPr lang="en-US" dirty="0"/>
              <a:t>2. Preprocessing (resize, RGB conversion)</a:t>
            </a:r>
          </a:p>
          <a:p>
            <a:r>
              <a:rPr lang="en-US" dirty="0"/>
              <a:t>3. CNN Feature Extraction (VGG16)</a:t>
            </a:r>
          </a:p>
          <a:p>
            <a:r>
              <a:rPr lang="en-US" dirty="0"/>
              <a:t>4. Fully Connected Layers</a:t>
            </a:r>
          </a:p>
          <a:p>
            <a:r>
              <a:rPr lang="en-US" dirty="0"/>
              <a:t>5. </a:t>
            </a:r>
            <a:r>
              <a:rPr lang="en-US" dirty="0" err="1"/>
              <a:t>Softmax</a:t>
            </a:r>
            <a:r>
              <a:rPr lang="en-US" dirty="0"/>
              <a:t> Classification</a:t>
            </a:r>
          </a:p>
          <a:p>
            <a:r>
              <a:rPr lang="en-US" dirty="0"/>
              <a:t>6. Emotion Output Display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645897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E7ACB9-BF93-9019-C290-81A53463FB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Training in MATLAB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5AC385-3574-5CF0-B20C-D9899E17E7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dirty="0"/>
              <a:t>Training using Deep Learning Toolbox.</a:t>
            </a:r>
          </a:p>
          <a:p>
            <a:r>
              <a:rPr lang="en-IN" dirty="0"/>
              <a:t>80:20 train-test split.</a:t>
            </a:r>
          </a:p>
          <a:p>
            <a:r>
              <a:rPr lang="en-IN" dirty="0"/>
              <a:t>Optimizer: Adam, LR = 1e‑4, Epochs = 8.</a:t>
            </a:r>
          </a:p>
          <a:p>
            <a:r>
              <a:rPr lang="en-IN" dirty="0"/>
              <a:t>Model saved as </a:t>
            </a:r>
            <a:r>
              <a:rPr lang="en-IN" dirty="0" err="1"/>
              <a:t>trainedCNN.mat</a:t>
            </a:r>
            <a:r>
              <a:rPr lang="en-IN" dirty="0"/>
              <a:t>.</a:t>
            </a:r>
          </a:p>
          <a:p>
            <a:r>
              <a:rPr lang="en-IN" dirty="0"/>
              <a:t>GUI built for real‑time usage.</a:t>
            </a:r>
          </a:p>
          <a:p>
            <a:pPr marL="0" indent="0">
              <a:buNone/>
            </a:pPr>
            <a:r>
              <a:rPr lang="en-IN" dirty="0"/>
              <a:t>            real‑time webcam detection.</a:t>
            </a:r>
          </a:p>
          <a:p>
            <a:pPr marL="0" indent="0">
              <a:buNone/>
            </a:pPr>
            <a:r>
              <a:rPr lang="en-IN" dirty="0"/>
              <a:t>            image selection.</a:t>
            </a:r>
          </a:p>
          <a:p>
            <a:pPr marL="0" indent="0">
              <a:buNone/>
            </a:pPr>
            <a:r>
              <a:rPr lang="en-IN" dirty="0"/>
              <a:t>            </a:t>
            </a:r>
          </a:p>
          <a:p>
            <a:endParaRPr lang="en-IN" dirty="0"/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0147578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58DEBA5-EE6D-4CEC-45DD-B793F4AF4F55}"/>
              </a:ext>
            </a:extLst>
          </p:cNvPr>
          <p:cNvSpPr txBox="1"/>
          <p:nvPr/>
        </p:nvSpPr>
        <p:spPr>
          <a:xfrm>
            <a:off x="408740" y="577619"/>
            <a:ext cx="1480349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Graphs:</a:t>
            </a:r>
            <a:endParaRPr lang="en-IN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 descr="A screenshot of a graph&#10;&#10;AI-generated content may be incorrect.">
            <a:extLst>
              <a:ext uri="{FF2B5EF4-FFF2-40B4-BE49-F238E27FC236}">
                <a16:creationId xmlns:a16="http://schemas.microsoft.com/office/drawing/2014/main" id="{ED914585-0BE9-11F5-02ED-5FFA1768515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8914" y="1301377"/>
            <a:ext cx="10266411" cy="509942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41260524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>
            <a:extLst>
              <a:ext uri="{FF2B5EF4-FFF2-40B4-BE49-F238E27FC236}">
                <a16:creationId xmlns:a16="http://schemas.microsoft.com/office/drawing/2014/main" id="{7D6F5DE5-3E44-DA22-014B-D4927D7BAA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CD088749-87A5-8F46-E417-7D742ED89E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932823" y="872898"/>
            <a:ext cx="3593947" cy="723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</a:br>
            <a:r>
              <a:rPr kumimoji="0" lang="en-US" altLang="en-US" sz="3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Confusion Matrix</a:t>
            </a:r>
            <a:endParaRPr kumimoji="0" lang="en-US" altLang="en-US" sz="3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1155305-06B6-6646-7769-552932288F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67270" y="986309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pic>
        <p:nvPicPr>
          <p:cNvPr id="2052" name="Picture 1">
            <a:extLst>
              <a:ext uri="{FF2B5EF4-FFF2-40B4-BE49-F238E27FC236}">
                <a16:creationId xmlns:a16="http://schemas.microsoft.com/office/drawing/2014/main" id="{234B114F-5BA5-ED8C-5614-EC8088BFAD1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" r="21109" b="-3793"/>
          <a:stretch>
            <a:fillRect/>
          </a:stretch>
        </p:blipFill>
        <p:spPr bwMode="auto">
          <a:xfrm>
            <a:off x="6233293" y="1972618"/>
            <a:ext cx="5441530" cy="26395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A6941BD6-DE06-3A25-6A7C-D6AECD0174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11745" y="580510"/>
            <a:ext cx="3658374" cy="1015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sz="3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</a:br>
            <a:r>
              <a:rPr kumimoji="0" lang="en-US" altLang="en-US" sz="3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Classification Report</a:t>
            </a:r>
            <a:endParaRPr kumimoji="0" lang="en-US" altLang="en-US" sz="3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C0963A7-9484-6DC7-A1AC-0B2D1752A0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2823" y="1976909"/>
            <a:ext cx="4465638" cy="33369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4839827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E6D712-7A0C-74D9-1BBD-B45DD80ACE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1" y="735047"/>
            <a:ext cx="10353761" cy="1326321"/>
          </a:xfrm>
        </p:spPr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F793B3-F490-6FBF-D43A-2B57D33A78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1" y="1620573"/>
            <a:ext cx="10131425" cy="3649133"/>
          </a:xfrm>
        </p:spPr>
        <p:txBody>
          <a:bodyPr/>
          <a:lstStyle/>
          <a:p>
            <a:r>
              <a:rPr lang="en-US" sz="2000" dirty="0"/>
              <a:t>CNN model shows strong accuracy across all emotion classes.</a:t>
            </a:r>
          </a:p>
          <a:p>
            <a:r>
              <a:rPr lang="en-US" sz="2000" dirty="0"/>
              <a:t>GUI displays emotion label and confidence score.</a:t>
            </a:r>
          </a:p>
          <a:p>
            <a:r>
              <a:rPr lang="en-US" sz="2000" dirty="0"/>
              <a:t>VGG16 improves robustness under varied lighting and image quality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endParaRPr lang="en-IN" dirty="0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15054EBB-1726-CD9A-4517-BD99B6CF91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2A106E42-8CCB-F837-3D49-D5ABC50D7A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016375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sp>
        <p:nvSpPr>
          <p:cNvPr id="6" name="Rectangle 7">
            <a:extLst>
              <a:ext uri="{FF2B5EF4-FFF2-40B4-BE49-F238E27FC236}">
                <a16:creationId xmlns:a16="http://schemas.microsoft.com/office/drawing/2014/main" id="{5BBFF754-2DCE-D582-E0E4-68AA401FB9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7902575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sp>
        <p:nvSpPr>
          <p:cNvPr id="7" name="Rectangle 8">
            <a:extLst>
              <a:ext uri="{FF2B5EF4-FFF2-40B4-BE49-F238E27FC236}">
                <a16:creationId xmlns:a16="http://schemas.microsoft.com/office/drawing/2014/main" id="{A2B76A20-FEE1-099D-E4EC-3381AFDBFF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1568113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pic>
        <p:nvPicPr>
          <p:cNvPr id="15" name="Picture 14" descr="A person smiling with yellow rectangles&#10;&#10;AI-generated content may be incorrect.">
            <a:extLst>
              <a:ext uri="{FF2B5EF4-FFF2-40B4-BE49-F238E27FC236}">
                <a16:creationId xmlns:a16="http://schemas.microsoft.com/office/drawing/2014/main" id="{970B979A-324E-E0D7-7181-0FA6134C67C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346" y="3698654"/>
            <a:ext cx="2722049" cy="2195958"/>
          </a:xfrm>
          <a:prstGeom prst="rect">
            <a:avLst/>
          </a:prstGeom>
        </p:spPr>
      </p:pic>
      <p:pic>
        <p:nvPicPr>
          <p:cNvPr id="17" name="Picture 16" descr="A person with glasses and a yellow rectangle&#10;&#10;AI-generated content may be incorrect.">
            <a:extLst>
              <a:ext uri="{FF2B5EF4-FFF2-40B4-BE49-F238E27FC236}">
                <a16:creationId xmlns:a16="http://schemas.microsoft.com/office/drawing/2014/main" id="{18479BE0-0397-F70E-59A3-7794DE78468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02741" y="3698654"/>
            <a:ext cx="2868357" cy="2195958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6748890A-556E-1D18-C04E-8D4D580C34F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61443" y="3698654"/>
            <a:ext cx="2722049" cy="2229074"/>
          </a:xfrm>
          <a:prstGeom prst="rect">
            <a:avLst/>
          </a:prstGeom>
        </p:spPr>
      </p:pic>
      <p:pic>
        <p:nvPicPr>
          <p:cNvPr id="21" name="Picture 20" descr="A person with a surprised expression&#10;&#10;AI-generated content may be incorrect.">
            <a:extLst>
              <a:ext uri="{FF2B5EF4-FFF2-40B4-BE49-F238E27FC236}">
                <a16:creationId xmlns:a16="http://schemas.microsoft.com/office/drawing/2014/main" id="{57D7C7A3-0D06-4A9D-2E01-D5823005EE1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69291" y="3698654"/>
            <a:ext cx="2932363" cy="22621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057166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A2503AF-5AE4-2E28-8BF1-E2E31524F76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558392" y="-431878"/>
            <a:ext cx="5075216" cy="691497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FBC769B-3AD2-9009-C298-7F3999741D72}"/>
              </a:ext>
            </a:extLst>
          </p:cNvPr>
          <p:cNvSpPr txBox="1"/>
          <p:nvPr/>
        </p:nvSpPr>
        <p:spPr>
          <a:xfrm>
            <a:off x="-150724" y="4838180"/>
            <a:ext cx="12192000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THANK YOU</a:t>
            </a:r>
            <a:endParaRPr lang="en-IN" sz="5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3710420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elestial">
  <a:themeElements>
    <a:clrScheme name="Celestial">
      <a:dk1>
        <a:sysClr val="windowText" lastClr="000000"/>
      </a:dk1>
      <a:lt1>
        <a:sysClr val="window" lastClr="FFFFFF"/>
      </a:lt1>
      <a:dk2>
        <a:srgbClr val="18276C"/>
      </a:dk2>
      <a:lt2>
        <a:srgbClr val="EBEBEB"/>
      </a:lt2>
      <a:accent1>
        <a:srgbClr val="AC3EC1"/>
      </a:accent1>
      <a:accent2>
        <a:srgbClr val="477BD1"/>
      </a:accent2>
      <a:accent3>
        <a:srgbClr val="46B298"/>
      </a:accent3>
      <a:accent4>
        <a:srgbClr val="90BA4C"/>
      </a:accent4>
      <a:accent5>
        <a:srgbClr val="DD9D31"/>
      </a:accent5>
      <a:accent6>
        <a:srgbClr val="E25247"/>
      </a:accent6>
      <a:hlink>
        <a:srgbClr val="C573D2"/>
      </a:hlink>
      <a:folHlink>
        <a:srgbClr val="CCAEE8"/>
      </a:folHlink>
    </a:clrScheme>
    <a:fontScheme name="Celestial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elestial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lumMod val="110000"/>
              </a:schemeClr>
            </a:gs>
            <a:gs pos="100000">
              <a:schemeClr val="phClr">
                <a:tint val="82000"/>
                <a:alpha val="7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0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1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5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6000"/>
                <a:hueMod val="100000"/>
                <a:satMod val="180000"/>
                <a:lumMod val="110000"/>
              </a:schemeClr>
            </a:gs>
            <a:gs pos="100000">
              <a:schemeClr val="phClr">
                <a:shade val="96000"/>
                <a:satMod val="160000"/>
                <a:lumMod val="100000"/>
              </a:schemeClr>
            </a:gs>
          </a:gsLst>
          <a:lin ang="4740000" scaled="1"/>
        </a:gradFill>
        <a:blipFill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elestial" id="{C4BB2A3D-0E93-4C5F-B0D2-9D3FCE089CC5}" vid="{42E5908D-19A2-46FD-89FA-638B126129E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TM03457452[[fn=Celestial]]</Template>
  <TotalTime>541</TotalTime>
  <Words>489</Words>
  <Application>Microsoft Office PowerPoint</Application>
  <PresentationFormat>Widescreen</PresentationFormat>
  <Paragraphs>66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Aptos</vt:lpstr>
      <vt:lpstr>Arial</vt:lpstr>
      <vt:lpstr>Calibri</vt:lpstr>
      <vt:lpstr>Calibri Light</vt:lpstr>
      <vt:lpstr>Times New Roman</vt:lpstr>
      <vt:lpstr>Celestial</vt:lpstr>
      <vt:lpstr>Facial expression detection using mat-lab</vt:lpstr>
      <vt:lpstr>Why Emotion Detection?</vt:lpstr>
      <vt:lpstr>SUBMITTED BY</vt:lpstr>
      <vt:lpstr>Introduction</vt:lpstr>
      <vt:lpstr>Objectives</vt:lpstr>
      <vt:lpstr>Daily Life Applications</vt:lpstr>
      <vt:lpstr>FER‑2013 Dataset</vt:lpstr>
      <vt:lpstr>CNN &amp; VGG16 Architecture</vt:lpstr>
      <vt:lpstr>System Workflow</vt:lpstr>
      <vt:lpstr>Training in MATLAB</vt:lpstr>
      <vt:lpstr>PowerPoint Presentation</vt:lpstr>
      <vt:lpstr>PowerPoint Presentation</vt:lpstr>
      <vt:lpstr>Results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Aravind Reddy Donthi</dc:creator>
  <cp:lastModifiedBy>PANJA SAI MANIKANTA GANESH</cp:lastModifiedBy>
  <cp:revision>3</cp:revision>
  <dcterms:created xsi:type="dcterms:W3CDTF">2025-11-15T13:16:03Z</dcterms:created>
  <dcterms:modified xsi:type="dcterms:W3CDTF">2026-02-08T09:07:42Z</dcterms:modified>
</cp:coreProperties>
</file>